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E2EB1-F69F-41EA-AB8F-288DC5BE1F67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D17FC-ECB1-4FD1-9C4C-E6B03D22A2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55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Здравствуйте.</a:t>
            </a:r>
          </a:p>
          <a:p>
            <a:r>
              <a:rPr lang="ru-RU" dirty="0" smtClean="0"/>
              <a:t>Тема моей работы — «Мессенджер AJAX».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771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Целью проекта была разработка веб-приложения для обмена сообщениями между пользователями с использованием современных технологий разработки и эксплуатации программного обеспечения.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146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рамках проекта была реализована </a:t>
            </a:r>
            <a:r>
              <a:rPr lang="ru-RU" dirty="0" err="1" smtClean="0"/>
              <a:t>микросервисная</a:t>
            </a:r>
            <a:r>
              <a:rPr lang="ru-RU" dirty="0" smtClean="0"/>
              <a:t> архитектура, состоящая из нескольких компонентов: веб-клиента, сервиса пользователей, сервиса сообщений и базы данных </a:t>
            </a:r>
            <a:r>
              <a:rPr lang="ru-RU" dirty="0" err="1" smtClean="0"/>
              <a:t>PostgreSQL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>Для разработки серверной части использовался язык </a:t>
            </a:r>
            <a:r>
              <a:rPr lang="ru-RU" dirty="0" err="1" smtClean="0"/>
              <a:t>Python</a:t>
            </a:r>
            <a:r>
              <a:rPr lang="ru-RU" dirty="0" smtClean="0"/>
              <a:t> и </a:t>
            </a:r>
            <a:r>
              <a:rPr lang="ru-RU" dirty="0" err="1" smtClean="0"/>
              <a:t>фреймворк</a:t>
            </a:r>
            <a:r>
              <a:rPr lang="ru-RU" dirty="0" smtClean="0"/>
              <a:t> </a:t>
            </a:r>
            <a:r>
              <a:rPr lang="ru-RU" dirty="0" err="1" smtClean="0"/>
              <a:t>Flask</a:t>
            </a:r>
            <a:r>
              <a:rPr lang="ru-RU" dirty="0" smtClean="0"/>
              <a:t>. Данные пользователей и сообщений хранятся в </a:t>
            </a:r>
            <a:r>
              <a:rPr lang="ru-RU" dirty="0" err="1" smtClean="0"/>
              <a:t>PostgreSQL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Для обеспечения переносимости и удобства развертывания все компоненты были </a:t>
            </a:r>
            <a:r>
              <a:rPr lang="ru-RU" dirty="0" err="1" smtClean="0"/>
              <a:t>контейнеризированы</a:t>
            </a:r>
            <a:r>
              <a:rPr lang="ru-RU" dirty="0" smtClean="0"/>
              <a:t> с использованием </a:t>
            </a:r>
            <a:r>
              <a:rPr lang="ru-RU" dirty="0" err="1" smtClean="0"/>
              <a:t>Docker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>Развертывание приложения выполнено в </a:t>
            </a:r>
            <a:r>
              <a:rPr lang="ru-RU" dirty="0" err="1" smtClean="0"/>
              <a:t>Kubernetes</a:t>
            </a:r>
            <a:r>
              <a:rPr lang="ru-RU" dirty="0" smtClean="0"/>
              <a:t>-кластере в облачной инфраструктуре </a:t>
            </a:r>
            <a:r>
              <a:rPr lang="ru-RU" dirty="0" err="1" smtClean="0"/>
              <a:t>Yandex</a:t>
            </a:r>
            <a:r>
              <a:rPr lang="ru-RU" dirty="0" smtClean="0"/>
              <a:t> </a:t>
            </a:r>
            <a:r>
              <a:rPr lang="ru-RU" dirty="0" err="1" smtClean="0"/>
              <a:t>Cloud</a:t>
            </a:r>
            <a:r>
              <a:rPr lang="ru-RU" dirty="0" smtClean="0"/>
              <a:t>. Для управления конфигурациями использовались </a:t>
            </a:r>
            <a:r>
              <a:rPr lang="ru-RU" dirty="0" err="1" smtClean="0"/>
              <a:t>Helm-чарты</a:t>
            </a:r>
            <a:r>
              <a:rPr lang="ru-RU" dirty="0" smtClean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32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автоматизации процессов сборки и развертывания был настроен CI/CD-конвейер на базе </a:t>
            </a:r>
            <a:r>
              <a:rPr lang="ru-RU" dirty="0" err="1" smtClean="0"/>
              <a:t>Jenkins</a:t>
            </a:r>
            <a:r>
              <a:rPr lang="ru-RU" dirty="0" smtClean="0"/>
              <a:t>. После внесения изменений в </a:t>
            </a:r>
            <a:r>
              <a:rPr lang="ru-RU" dirty="0" err="1" smtClean="0"/>
              <a:t>репозиторий</a:t>
            </a:r>
            <a:r>
              <a:rPr lang="ru-RU" dirty="0" smtClean="0"/>
              <a:t> автоматически выполняется сборка контейнеров и обновление приложения в </a:t>
            </a:r>
            <a:r>
              <a:rPr lang="ru-RU" dirty="0" err="1" smtClean="0"/>
              <a:t>Kubernetes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124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мониторинга системы был внедрен стек </a:t>
            </a:r>
            <a:r>
              <a:rPr lang="ru-RU" dirty="0" err="1" smtClean="0"/>
              <a:t>Prometheus</a:t>
            </a:r>
            <a:r>
              <a:rPr lang="ru-RU" dirty="0" smtClean="0"/>
              <a:t> и </a:t>
            </a:r>
            <a:r>
              <a:rPr lang="ru-RU" dirty="0" err="1" smtClean="0"/>
              <a:t>Grafana</a:t>
            </a:r>
            <a:r>
              <a:rPr lang="ru-RU" dirty="0" smtClean="0"/>
              <a:t>. Собираются метрики самого кластера </a:t>
            </a:r>
            <a:r>
              <a:rPr lang="ru-RU" dirty="0" err="1" smtClean="0"/>
              <a:t>Kubernetes</a:t>
            </a:r>
            <a:r>
              <a:rPr lang="ru-RU" dirty="0" smtClean="0"/>
              <a:t>, виртуальных машин, базы данных </a:t>
            </a:r>
            <a:r>
              <a:rPr lang="ru-RU" dirty="0" err="1" smtClean="0"/>
              <a:t>PostgreSQL</a:t>
            </a:r>
            <a:r>
              <a:rPr lang="ru-RU" dirty="0" smtClean="0"/>
              <a:t> и разработанных </a:t>
            </a:r>
            <a:r>
              <a:rPr lang="ru-RU" dirty="0" err="1" smtClean="0"/>
              <a:t>Flask</a:t>
            </a:r>
            <a:r>
              <a:rPr lang="ru-RU" dirty="0" smtClean="0"/>
              <a:t>-сервисов.</a:t>
            </a:r>
          </a:p>
          <a:p>
            <a:r>
              <a:rPr lang="ru-RU" dirty="0" smtClean="0"/>
              <a:t>Для централизованного </a:t>
            </a:r>
            <a:r>
              <a:rPr lang="ru-RU" dirty="0" err="1" smtClean="0"/>
              <a:t>логирования</a:t>
            </a:r>
            <a:r>
              <a:rPr lang="ru-RU" dirty="0" smtClean="0"/>
              <a:t> используется </a:t>
            </a:r>
            <a:r>
              <a:rPr lang="ru-RU" dirty="0" err="1" smtClean="0"/>
              <a:t>Loki</a:t>
            </a:r>
            <a:r>
              <a:rPr lang="ru-RU" dirty="0" smtClean="0"/>
              <a:t> и </a:t>
            </a:r>
            <a:r>
              <a:rPr lang="ru-RU" dirty="0" err="1" smtClean="0"/>
              <a:t>Promtail</a:t>
            </a:r>
            <a:r>
              <a:rPr lang="ru-RU" dirty="0" smtClean="0"/>
              <a:t>, что позволяет оперативно анализировать работу приложения и выявлять ошибки.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661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результате был создан работоспособный веб-мессенджер с современной облачной инфраструктурой, автоматизированным развертыванием, мониторингом и системой </a:t>
            </a:r>
            <a:r>
              <a:rPr lang="ru-RU" dirty="0" err="1" smtClean="0"/>
              <a:t>логирования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96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Проект может быть расширен за счет внедрения </a:t>
            </a:r>
            <a:r>
              <a:rPr lang="ru-RU" dirty="0" err="1" smtClean="0"/>
              <a:t>WebSocket</a:t>
            </a:r>
            <a:r>
              <a:rPr lang="ru-RU" dirty="0" smtClean="0"/>
              <a:t> для обмена сообщениями в режиме реального времени, JWT-аутентификации, масштабирования сервисов и повышения отказоустойчивости базы данных.</a:t>
            </a:r>
          </a:p>
          <a:p>
            <a:r>
              <a:rPr lang="ru-RU" dirty="0" smtClean="0"/>
              <a:t>Спасибо за внимание.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D17FC-ECB1-4FD1-9C4C-E6B03D22A29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5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1591409"/>
          </a:xfrm>
        </p:spPr>
        <p:txBody>
          <a:bodyPr/>
          <a:lstStyle/>
          <a:p>
            <a:r>
              <a:rPr lang="ru-RU" b="1" dirty="0"/>
              <a:t>Тема:</a:t>
            </a:r>
            <a:br>
              <a:rPr lang="ru-RU" b="1" dirty="0"/>
            </a:br>
            <a:r>
              <a:rPr lang="ru-RU" b="1" dirty="0"/>
              <a:t>«Мессенджер </a:t>
            </a:r>
            <a:r>
              <a:rPr lang="en-US" b="1" dirty="0"/>
              <a:t>AJAX»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4211" y="2470639"/>
            <a:ext cx="7017851" cy="3320562"/>
          </a:xfrm>
        </p:spPr>
        <p:txBody>
          <a:bodyPr/>
          <a:lstStyle/>
          <a:p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Выполнил:</a:t>
            </a:r>
            <a:b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Андрей Асламов</a:t>
            </a:r>
          </a:p>
          <a:p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Краткое описание:</a:t>
            </a:r>
            <a:b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Веб-приложение для обмена сообщениями, реализованное на основе </a:t>
            </a:r>
            <a:r>
              <a:rPr lang="ru-RU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микросервисной</a:t>
            </a:r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архитектуры и развернутое в облачной инфраструктуре </a:t>
            </a:r>
            <a:r>
              <a:rPr lang="ru-RU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Kubernetes</a:t>
            </a:r>
            <a:r>
              <a:rPr lang="ru-RU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69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/>
              <a:t>Цель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1" y="1714500"/>
            <a:ext cx="9462111" cy="4519246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Цель проекта: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Разработка современного веб-мессенджера с возможностью обмена сообщениями между пользователями и автоматизированной инфраструктурой развертывания.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Основные задачи: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Реализовать регистрацию и работу пользователей.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Реализовать обмен сообщениями.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Организовать хранение данных в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PostgreSQL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Настроить контейнеризацию приложения.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Развернуть приложение в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Kubernetes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Настроить CI/CD.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Реализовать мониторинг и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логирование</a:t>
            </a: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  <a:endParaRPr lang="ru-RU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04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/>
              <a:t>Архитектура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61219" y="1688123"/>
            <a:ext cx="3799866" cy="4519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Компоненты системы: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Frontend: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Web Client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Backend: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User Service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Message Service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База данных: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PostgreSQL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Инфраструктура: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Docker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Kubernetes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Helm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Jenkins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472481" y="691660"/>
            <a:ext cx="4359642" cy="59904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GitHub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▼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Jenkins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▼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Helm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▼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Kubernetes Cluster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┌─────────────────────┐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 Web Client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           │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 User Service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        </a:t>
            </a:r>
            <a:r>
              <a:rPr lang="en-US" sz="1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 Message Service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</a:t>
            </a:r>
            <a:r>
              <a:rPr lang="en-US" sz="1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└─────────────────────┘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▼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PostgreSQL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Terraform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└── 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создаёт инфраструктуру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Ansible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│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└── 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настраивает серверы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Prometheus ──►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Grafana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Loki ───────►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Grafana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1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/>
              <a:t>Технологический стек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1714500"/>
            <a:ext cx="4494458" cy="4519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Язык программирования: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Python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Фреймворк: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Flask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База данных: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PostgreSQL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Infrastructure as Code: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Terraform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Configuration Management: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Ansible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Контейнеризация: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Docker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725135" y="1714500"/>
            <a:ext cx="4494458" cy="4519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ru-RU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Оркестрация</a:t>
            </a: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b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Kubernetes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Управление пакетами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Kubernetes:</a:t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Helm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CI/CD:</a:t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Jenkins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Мониторинг:</a:t>
            </a:r>
            <a:b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Prometheus</a:t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Grafana</a:t>
            </a:r>
            <a:endParaRPr lang="en-US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ru-RU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Логирование</a:t>
            </a: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b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Loki</a:t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Promtail</a:t>
            </a:r>
            <a:endParaRPr lang="en-US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Облачная платформа:</a:t>
            </a:r>
            <a:b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Yandex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Cloud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02" y="1800468"/>
            <a:ext cx="713168" cy="71459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938" y="2736882"/>
            <a:ext cx="746732" cy="77006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02" y="3583880"/>
            <a:ext cx="719088" cy="71908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519" y="4477454"/>
            <a:ext cx="1069133" cy="106913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180" y="4819307"/>
            <a:ext cx="1028047" cy="852488"/>
          </a:xfrm>
          <a:prstGeom prst="rect">
            <a:avLst/>
          </a:prstGeom>
          <a:effectLst>
            <a:innerShdw blurRad="76200">
              <a:prstClr val="black"/>
            </a:innerShdw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278" y="1739501"/>
            <a:ext cx="799719" cy="77556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593" y="2578660"/>
            <a:ext cx="1086509" cy="108650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0234" y="3853955"/>
            <a:ext cx="605227" cy="65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1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en-US" b="1" dirty="0"/>
              <a:t>CI/CD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1" y="1714500"/>
            <a:ext cx="9462111" cy="45192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Реализован автоматический процесс доставки приложения: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GitHub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Jenkins Pipeline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Сборка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Docker Image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Push 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в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Registry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Helm Upgrade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Kubernetes Cluster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Преимущества: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Автоматизация развертывания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Снижение количества ошибок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Быстрая доставка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285230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 smtClean="0"/>
              <a:t>Мониторинг</a:t>
            </a:r>
            <a:r>
              <a:rPr lang="en-US" b="1" dirty="0" smtClean="0"/>
              <a:t> </a:t>
            </a:r>
            <a:r>
              <a:rPr lang="ru-RU" b="1" dirty="0"/>
              <a:t>и </a:t>
            </a:r>
            <a:r>
              <a:rPr lang="ru-RU" b="1" dirty="0" err="1"/>
              <a:t>Логирование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1714500"/>
            <a:ext cx="4494458" cy="4519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Для мониторинга используется стек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Prometheus +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Grafana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Собираемые метрики: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Kubernetes Cluster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Worker Nodes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Bastion VM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PostgreSQL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Flask 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приложения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Используется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endpoint /metrics.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698758" y="1222131"/>
            <a:ext cx="4494458" cy="4519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Используется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Loki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и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Promtail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Возможности: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Централизованный сбор логов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Поиск ошибок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Анализ работы сервисов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Просмотр логов через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Grafana</a:t>
            </a:r>
            <a:endParaRPr lang="ru-RU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5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/>
              <a:t>Результаты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1046934"/>
            <a:ext cx="9462111" cy="4519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В результате выполнена: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Разработка веб-мессенджера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Реализация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микросервисной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архитектуры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Настройка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Kubernetes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-кластера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Реализация CI/CD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Настройка мониторинга и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логирования</a:t>
            </a:r>
            <a:endParaRPr lang="ru-RU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Проект готов к дальнейшему развитию и масштабированию.</a:t>
            </a:r>
          </a:p>
        </p:txBody>
      </p:sp>
    </p:spTree>
    <p:extLst>
      <p:ext uri="{BB962C8B-B14F-4D97-AF65-F5344CB8AC3E}">
        <p14:creationId xmlns:p14="http://schemas.microsoft.com/office/powerpoint/2010/main" val="418584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293401"/>
            <a:ext cx="8534400" cy="1507067"/>
          </a:xfrm>
        </p:spPr>
        <p:txBody>
          <a:bodyPr/>
          <a:lstStyle/>
          <a:p>
            <a:r>
              <a:rPr lang="ru-RU" b="1" dirty="0"/>
              <a:t>Перспективы развития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1046934"/>
            <a:ext cx="9462111" cy="4519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Планируемые улучшения: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JWT-аутентификация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WebSocket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для сообщений в реальном времени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Push</a:t>
            </a: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-уведомления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Масштабирование сервисов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Резервное копирование БД</a:t>
            </a:r>
            <a:b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• Высокая доступность </a:t>
            </a:r>
            <a:r>
              <a:rPr lang="ru-RU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PostgreSQL</a:t>
            </a:r>
            <a:endParaRPr lang="ru-RU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48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119</TotalTime>
  <Words>283</Words>
  <Application>Microsoft Office PowerPoint</Application>
  <PresentationFormat>Широкоэкранный</PresentationFormat>
  <Paragraphs>65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Century Gothic</vt:lpstr>
      <vt:lpstr>Wingdings 3</vt:lpstr>
      <vt:lpstr>Сектор</vt:lpstr>
      <vt:lpstr>Тема: «Мессенджер AJAX»</vt:lpstr>
      <vt:lpstr>Цель проекта</vt:lpstr>
      <vt:lpstr>Архитектура системы</vt:lpstr>
      <vt:lpstr>Технологический стек</vt:lpstr>
      <vt:lpstr>CI/CD</vt:lpstr>
      <vt:lpstr>Мониторинг и Логирование</vt:lpstr>
      <vt:lpstr>Результаты проекта</vt:lpstr>
      <vt:lpstr>Перспективы развития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Асламов Андрей Федорович</dc:creator>
  <cp:lastModifiedBy>Асламов Андрей Федорович</cp:lastModifiedBy>
  <cp:revision>10</cp:revision>
  <dcterms:created xsi:type="dcterms:W3CDTF">2026-06-14T16:16:34Z</dcterms:created>
  <dcterms:modified xsi:type="dcterms:W3CDTF">2026-06-14T18:15:44Z</dcterms:modified>
</cp:coreProperties>
</file>